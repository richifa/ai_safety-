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Plus Jakarta Sans"/>
      <p:regular r:id="rId26"/>
      <p:bold r:id="rId27"/>
      <p:italic r:id="rId28"/>
      <p:boldItalic r:id="rId29"/>
    </p:embeddedFont>
    <p:embeddedFont>
      <p:font typeface="Space Grotesk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9C3674-012A-4BB4-BDDA-8294550A1780}">
  <a:tblStyle styleId="{469C3674-012A-4BB4-BDDA-8294550A17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regular.fntdata"/><Relationship Id="rId25" Type="http://schemas.openxmlformats.org/officeDocument/2006/relationships/slide" Target="slides/slide19.xml"/><Relationship Id="rId28" Type="http://schemas.openxmlformats.org/officeDocument/2006/relationships/font" Target="fonts/PlusJakartaSans-italic.fntdata"/><Relationship Id="rId27" Type="http://schemas.openxmlformats.org/officeDocument/2006/relationships/font" Target="fonts/PlusJakarta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-bold.fntdata"/><Relationship Id="rId30" Type="http://schemas.openxmlformats.org/officeDocument/2006/relationships/font" Target="fonts/SpaceGrotesk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33759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33759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1834604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DLBCSEESE02_E — ORAL PROJECT REPORT: TASK 2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2187029"/>
            <a:ext cx="10101262" cy="1007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Mitigating Social Engineering Through Compliance &amp; Code of Conduct Frameworks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423195"/>
            <a:ext cx="819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Case-Based Analysis of Human-Centric Defense, Cognitive Exploitation, and Insider Threat Mitigation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4613820"/>
            <a:ext cx="1893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Presenter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4823370"/>
            <a:ext cx="18930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Umar Richifa Ibrahim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505075" y="4613820"/>
            <a:ext cx="4214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Institution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505075" y="4823370"/>
            <a:ext cx="4214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IU International University of Applied Sciences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257925" y="4613820"/>
            <a:ext cx="1928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 Supervisor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257925" y="4823370"/>
            <a:ext cx="1928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Prof. Dr. Ahmed Taha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609600" y="3081337"/>
            <a:ext cx="2600325" cy="1704975"/>
          </a:xfrm>
          <a:prstGeom prst="roundRect">
            <a:avLst>
              <a:gd fmla="val 67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3400425" y="3081337"/>
            <a:ext cx="2600325" cy="1704975"/>
          </a:xfrm>
          <a:prstGeom prst="roundRect">
            <a:avLst>
              <a:gd fmla="val 67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191250" y="3081337"/>
            <a:ext cx="2600325" cy="1704975"/>
          </a:xfrm>
          <a:prstGeom prst="roundRect">
            <a:avLst>
              <a:gd fmla="val 67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8982075" y="3081337"/>
            <a:ext cx="2600325" cy="1704975"/>
          </a:xfrm>
          <a:prstGeom prst="roundRect">
            <a:avLst>
              <a:gd fmla="val 67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3194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550" y="33194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75" y="33194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20200" y="33194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4242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3325" y="34242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34242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4975" y="342423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ROADMAP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Framework for Evaluating Human-Centric Defense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47725" y="385286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 Case Analysis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47725" y="4148137"/>
            <a:ext cx="2219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Anna's scenario and insider dynamics.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638550" y="385286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 Threat Vectors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3638550" y="4148137"/>
            <a:ext cx="2219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Spear-phishing and cognitive traps.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429375" y="385286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 4-Pillar Model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429375" y="4148137"/>
            <a:ext cx="2219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Governance, access, and training.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220200" y="385286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04. Implementation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220200" y="4148137"/>
            <a:ext cx="2219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policy and audit metrics.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/>
          <p:nvPr/>
        </p:nvSpPr>
        <p:spPr>
          <a:xfrm>
            <a:off x="5943600" y="2797671"/>
            <a:ext cx="5638800" cy="2196107"/>
          </a:xfrm>
          <a:prstGeom prst="roundRect">
            <a:avLst>
              <a:gd fmla="val 693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9718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6004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44817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IMPERATIVE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Perimeter Defense Fails Against Human-Centric Exploitation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286500" y="3140571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REALITY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286500" y="3426321"/>
            <a:ext cx="5048250" cy="891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"Technical controls provide necessary boundaries, but human policy compliance decides security outcomes."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286500" y="4469903"/>
            <a:ext cx="5905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— Kotkova &amp; Hromada (2021)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95350" y="2938462"/>
            <a:ext cx="4762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Firewalls Blown Past: Threat actors bypass technical barriers by manipulating employee credentials.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95350" y="3567112"/>
            <a:ext cx="47625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Human Element as Primary Vector: Over 80% of corporate data breaches originate from social engineering tactics.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95350" y="4414837"/>
            <a:ext cx="4762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Policy-Driven Defense: Structured codes of conduct create active behavioral sensors across operations.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609600" y="3300412"/>
            <a:ext cx="2624137" cy="1266825"/>
          </a:xfrm>
          <a:prstGeom prst="roundRect">
            <a:avLst>
              <a:gd fmla="val 90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3386137" y="3300412"/>
            <a:ext cx="2624137" cy="1266825"/>
          </a:xfrm>
          <a:prstGeom prst="roundRect">
            <a:avLst>
              <a:gd fmla="val 90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162675" y="3300412"/>
            <a:ext cx="2624137" cy="1266825"/>
          </a:xfrm>
          <a:prstGeom prst="roundRect">
            <a:avLst>
              <a:gd fmla="val 90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8939212" y="3300412"/>
            <a:ext cx="2643187" cy="1266825"/>
          </a:xfrm>
          <a:prstGeom prst="roundRect">
            <a:avLst>
              <a:gd fmla="val 9022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8939212" y="3300412"/>
            <a:ext cx="38100" cy="12668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SCENARIO ANALYSIS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Incident Sequence: From Initial Phish to Insider Interception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09625" y="3500437"/>
            <a:ext cx="27801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01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09625" y="3748087"/>
            <a:ext cx="291911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Phish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09625" y="4024312"/>
            <a:ext cx="23193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External email requesting product secrets.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3586162" y="3500437"/>
            <a:ext cx="27801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02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3586162" y="3748087"/>
            <a:ext cx="291911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Policy Recall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3586162" y="4024312"/>
            <a:ext cx="23193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Anna remembers code of conduct rules.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362700" y="3500437"/>
            <a:ext cx="27801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03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362700" y="3748087"/>
            <a:ext cx="291911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362700" y="4024312"/>
            <a:ext cx="23193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Refuses request and reports to supervisor.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67812" y="3490912"/>
            <a:ext cx="27801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167812" y="3738562"/>
            <a:ext cx="291911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Insider Neutralized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167812" y="4014787"/>
            <a:ext cx="23193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Internal accomplice exposed and dismissed.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/>
          <p:nvPr/>
        </p:nvSpPr>
        <p:spPr>
          <a:xfrm>
            <a:off x="609600" y="3243262"/>
            <a:ext cx="3505200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4343400" y="3243262"/>
            <a:ext cx="3505200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8077200" y="3243262"/>
            <a:ext cx="3505200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THREAT ARCHITECTURE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Deconstructing the Dual External-Internal Threat Model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85825" y="351948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External Pretexting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85825" y="3871912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Outsider targets marketing personnel directly.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4619625" y="351948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Authorized Access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4619625" y="3871912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Internal colleague leverages legitimate rights.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353425" y="3519487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Policy Interception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353425" y="3871912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 compliance guidelines trigger reporting.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609600" y="3328987"/>
            <a:ext cx="2600325" cy="1133475"/>
          </a:xfrm>
          <a:prstGeom prst="roundRect">
            <a:avLst>
              <a:gd fmla="val 100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400425" y="3328987"/>
            <a:ext cx="2600325" cy="1133475"/>
          </a:xfrm>
          <a:prstGeom prst="roundRect">
            <a:avLst>
              <a:gd fmla="val 100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6191250" y="3328987"/>
            <a:ext cx="2600325" cy="1133475"/>
          </a:xfrm>
          <a:prstGeom prst="roundRect">
            <a:avLst>
              <a:gd fmla="val 100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8982075" y="3328987"/>
            <a:ext cx="2600325" cy="1133475"/>
          </a:xfrm>
          <a:prstGeom prst="roundRect">
            <a:avLst>
              <a:gd fmla="val 100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THREAT VECTOR ANALYSIS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Social Engineering Attack Vectors in Enterprise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47725" y="356711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Spear Phishing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47725" y="3862387"/>
            <a:ext cx="22193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Tailored communications targeting specific roles.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3638550" y="356711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Pretexting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3638550" y="3862387"/>
            <a:ext cx="22193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Fabricated scenarios exploiting corporate trust.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429375" y="356711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Authority Exploitation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429375" y="3862387"/>
            <a:ext cx="22193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Impersonating executive leadership requests.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9220200" y="356711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Urgency Triggers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9220200" y="3862387"/>
            <a:ext cx="22193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Artificial time pressures bypassing scrutiny.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/>
          <p:nvPr/>
        </p:nvSpPr>
        <p:spPr>
          <a:xfrm>
            <a:off x="609600" y="3020466"/>
            <a:ext cx="5334000" cy="1750516"/>
          </a:xfrm>
          <a:prstGeom prst="roundRect">
            <a:avLst>
              <a:gd fmla="val 8706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248400" y="3020466"/>
            <a:ext cx="5334000" cy="1750516"/>
          </a:xfrm>
          <a:prstGeom prst="roundRect">
            <a:avLst>
              <a:gd fmla="val 8706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PSYCHOLOGICAL MECHANISM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Dual-Process Theory in Security Decision Making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14400" y="3325266"/>
            <a:ext cx="4819650" cy="1140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Vulnerability Zone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553200" y="3325266"/>
            <a:ext cx="4819650" cy="1140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Defense Mechanism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923925" y="3649116"/>
            <a:ext cx="61757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1 Thinking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923925" y="4030116"/>
            <a:ext cx="4800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Fast, emotional, automatic responses. Attackers force System 1 thinking through fear, urgency, or ambition.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562725" y="3649116"/>
            <a:ext cx="5629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2 Thinking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562725" y="4030116"/>
            <a:ext cx="4800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Deliberate, logical, rule-based reasoning. Clear compliance policies activate System 2 evaluation before acting.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609600" y="3319462"/>
            <a:ext cx="2600325" cy="1152525"/>
          </a:xfrm>
          <a:prstGeom prst="roundRect">
            <a:avLst>
              <a:gd fmla="val 66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400425" y="3319462"/>
            <a:ext cx="2600325" cy="1152525"/>
          </a:xfrm>
          <a:prstGeom prst="roundRect">
            <a:avLst>
              <a:gd fmla="val 66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6191250" y="3319462"/>
            <a:ext cx="2600325" cy="1152525"/>
          </a:xfrm>
          <a:prstGeom prst="roundRect">
            <a:avLst>
              <a:gd fmla="val 66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8982075" y="3319462"/>
            <a:ext cx="2600325" cy="1152525"/>
          </a:xfrm>
          <a:prstGeom prst="roundRect">
            <a:avLst>
              <a:gd fmla="val 66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609600" y="3319462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400425" y="3319462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6191250" y="3319462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8982075" y="3319462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Four-Pillar Compliance &amp; Code of Conduct Framework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838200" y="3586162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Governance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38200" y="3881437"/>
            <a:ext cx="2238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Explicit code of conduct standards.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3629025" y="3586162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Access Control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3629025" y="3881437"/>
            <a:ext cx="2238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Principle of least privilege (PoLP).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419850" y="3586162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Training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419850" y="3881437"/>
            <a:ext cx="26789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Adaptive phishing simulations.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9210675" y="3586162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Escalation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210675" y="3881437"/>
            <a:ext cx="26789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Non-punitive threat reporting.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181225"/>
            <a:ext cx="52959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01: GOVERNANCE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Formalizing Information Handling &amp; Disclosure Rules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09600" y="2738437"/>
            <a:ext cx="695086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Classification Tiers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09600" y="2995612"/>
            <a:ext cx="5391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operational labels for public, internal, confidential, and restricted assets.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09600" y="3586162"/>
            <a:ext cx="695086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Acceptable Use Policy (AUP)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09600" y="3843337"/>
            <a:ext cx="5391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 boundaries regarding corporate communication channels and data transfer.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09600" y="4433887"/>
            <a:ext cx="695086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Mandatory Reporting Clause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09600" y="4691062"/>
            <a:ext cx="5391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Contractual obligation to report unsolicited external data solicitations immediately.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/>
          <p:nvPr/>
        </p:nvSpPr>
        <p:spPr>
          <a:xfrm>
            <a:off x="609600" y="3243262"/>
            <a:ext cx="3505200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4343400" y="3243262"/>
            <a:ext cx="3505200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8077200" y="3243262"/>
            <a:ext cx="3505200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02: SAFEGUARDS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Enforcing Technical Boundaries &amp; Access Segmentation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885825" y="351948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Least Privilege (PoLP)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885825" y="3871912"/>
            <a:ext cx="3690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Restricting data access strictly by role.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4619625" y="351948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Role-Based Access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4619625" y="3871912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departmental permissions management.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8353425" y="3519487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Multi-Factor Auth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8353425" y="3871912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FIDO2 hardware key verification requirement.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/>
          <p:nvPr/>
        </p:nvSpPr>
        <p:spPr>
          <a:xfrm>
            <a:off x="6286500" y="2486025"/>
            <a:ext cx="5295900" cy="838200"/>
          </a:xfrm>
          <a:prstGeom prst="roundRect">
            <a:avLst>
              <a:gd fmla="val 136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6286500" y="3476625"/>
            <a:ext cx="5295900" cy="838200"/>
          </a:xfrm>
          <a:prstGeom prst="roundRect">
            <a:avLst>
              <a:gd fmla="val 136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6286500" y="4467225"/>
            <a:ext cx="5295900" cy="838200"/>
          </a:xfrm>
          <a:prstGeom prst="roundRect">
            <a:avLst>
              <a:gd fmla="val 136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4" name="Google Shape;2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181225"/>
            <a:ext cx="52959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03: EDUCATION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Replacing Annual Checks with Adaptive Phishing Training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486525" y="2686050"/>
            <a:ext cx="5705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Simulated Phishing Campaigns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486525" y="2943225"/>
            <a:ext cx="5705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Recurring, role-tailored spear-phishing exercises.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486525" y="3676650"/>
            <a:ext cx="5705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Instant Feedback Loops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486525" y="3933825"/>
            <a:ext cx="5705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Immediate micro-learning modules upon simulation failure.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6486525" y="4667250"/>
            <a:ext cx="5705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Gamified Metrics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6486525" y="4924425"/>
            <a:ext cx="5705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Departmental leaderboards recognizing high reporting rates.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/>
          <p:nvPr/>
        </p:nvSpPr>
        <p:spPr>
          <a:xfrm>
            <a:off x="609600" y="3243262"/>
            <a:ext cx="3505200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4343400" y="3243262"/>
            <a:ext cx="3505200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8077200" y="3243262"/>
            <a:ext cx="3505200" cy="1304925"/>
          </a:xfrm>
          <a:prstGeom prst="roundRect">
            <a:avLst>
              <a:gd fmla="val 8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PILLAR 04: RESPONSE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 Incident Escalation &amp; Reporting Workflows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885825" y="351948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1-Click Escalation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885825" y="3871912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Integrated email plug-ins for instant alert routing.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4619625" y="351948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SOC Triage SLA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4619625" y="3871912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15-minute response SLA on reported suspicious emails.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8353425" y="3519487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Forensic Isolation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8353425" y="3871912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account quarantine during investigation.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/>
          <p:nvPr/>
        </p:nvSpPr>
        <p:spPr>
          <a:xfrm>
            <a:off x="609600" y="2847975"/>
            <a:ext cx="5391150" cy="9525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6191250" y="2847975"/>
            <a:ext cx="5391150" cy="9525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609600" y="3990975"/>
            <a:ext cx="5391150" cy="9525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6191250" y="3990975"/>
            <a:ext cx="5391150" cy="9525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FINDINGS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Policy Drafting Principles for Maximum Compliance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847725" y="3086100"/>
            <a:ext cx="64508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Jargon-Free Clarity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847725" y="3381375"/>
            <a:ext cx="614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Simple, actionable phrasing over legalistic text (Steinmetz et al., 2023).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6429375" y="3086100"/>
            <a:ext cx="5762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Email Banners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6429375" y="3381375"/>
            <a:ext cx="5762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External origin visual flags reducing cognitive load.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847725" y="4229100"/>
            <a:ext cx="64508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Dual-Authorization Controls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847725" y="4524375"/>
            <a:ext cx="614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Mandatory secondary approval for sensitive data transfers.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6429375" y="4229100"/>
            <a:ext cx="5762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Regular Revision Cycles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6429375" y="4524375"/>
            <a:ext cx="5762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Semiannual policy updates adapting to novel threat vectors.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CULTURAL IMPERATIVE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Non-Punitive Reporting Drives Attacker Dwell Time Reduction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5076825" y="2852737"/>
            <a:ext cx="25479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75%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4405312" y="3919537"/>
            <a:ext cx="422671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Faster Incident Reporting Velocity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2226468" y="4262437"/>
            <a:ext cx="773906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Organizations fostering non-punitive psychological safety eliminate employee hesitation, drastically reducing internal dwell time during active social engineering attacks (Steinmetz et al., 2023).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" name="Google Shape;319;p27"/>
          <p:cNvGraphicFramePr/>
          <p:nvPr/>
        </p:nvGraphicFramePr>
        <p:xfrm>
          <a:off x="609600" y="291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{469C3674-012A-4BB4-BDDA-8294550A1780}</a:tableStyleId>
              </a:tblPr>
              <a:tblGrid>
                <a:gridCol w="1609875"/>
                <a:gridCol w="4334625"/>
                <a:gridCol w="5028300"/>
              </a:tblGrid>
              <a:tr h="4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Core Requirement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Compliance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 GDPR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72-Hour Breach Notification &amp; Confidentiality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Mandatory escalation paths and exfiltration logging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NIST CSF 2.0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Govern (GV) &amp; Protect (PR) Functions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Role-based training, access limits, risk oversight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DOL Guidance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Fiduciary Cybersecurity Audits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Annual third-party reviews and vendor questionnaires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0" name="Google Shape;320;p2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GOVERNANCE ALIGNMENT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Cross-Mapping Compliance Frameworks to Legal Standards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/>
          <p:nvPr/>
        </p:nvSpPr>
        <p:spPr>
          <a:xfrm>
            <a:off x="6286500" y="2486025"/>
            <a:ext cx="5295900" cy="838200"/>
          </a:xfrm>
          <a:prstGeom prst="roundRect">
            <a:avLst>
              <a:gd fmla="val 136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6286500" y="3476625"/>
            <a:ext cx="5295900" cy="838200"/>
          </a:xfrm>
          <a:prstGeom prst="roundRect">
            <a:avLst>
              <a:gd fmla="val 136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6286500" y="4467225"/>
            <a:ext cx="5295900" cy="838200"/>
          </a:xfrm>
          <a:prstGeom prst="roundRect">
            <a:avLst>
              <a:gd fmla="val 136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9" name="Google Shape;32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181225"/>
            <a:ext cx="23050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SUPPLY CHAIN SECURITY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Mitigating Vendor &amp; Third-Party Social Engineering Risks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6486525" y="2686050"/>
            <a:ext cx="5705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Vendor Questionnaires</a:t>
            </a:r>
            <a:endParaRPr/>
          </a:p>
        </p:txBody>
      </p:sp>
      <p:sp>
        <p:nvSpPr>
          <p:cNvPr id="333" name="Google Shape;333;p28"/>
          <p:cNvSpPr txBox="1"/>
          <p:nvPr/>
        </p:nvSpPr>
        <p:spPr>
          <a:xfrm>
            <a:off x="6486525" y="2943225"/>
            <a:ext cx="5705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Mandatory due diligence verifying third-party controls (Musil, 2022).</a:t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6486525" y="3676650"/>
            <a:ext cx="5705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SOC 2 Type II Certification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6486525" y="3933825"/>
            <a:ext cx="5705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Requiring external security audits for cloud partners.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6486525" y="4667250"/>
            <a:ext cx="5705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Contractual Addendums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6486525" y="4924425"/>
            <a:ext cx="5705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Binding security guarantees and rapid breach reporting SLA clauses.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/>
          <p:nvPr/>
        </p:nvSpPr>
        <p:spPr>
          <a:xfrm>
            <a:off x="609600" y="3176587"/>
            <a:ext cx="2600325" cy="1438275"/>
          </a:xfrm>
          <a:prstGeom prst="roundRect">
            <a:avLst>
              <a:gd fmla="val 79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9"/>
          <p:cNvSpPr/>
          <p:nvPr/>
        </p:nvSpPr>
        <p:spPr>
          <a:xfrm>
            <a:off x="3400425" y="3176587"/>
            <a:ext cx="2600325" cy="1438275"/>
          </a:xfrm>
          <a:prstGeom prst="roundRect">
            <a:avLst>
              <a:gd fmla="val 79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6191250" y="3176587"/>
            <a:ext cx="2600325" cy="1438275"/>
          </a:xfrm>
          <a:prstGeom prst="roundRect">
            <a:avLst>
              <a:gd fmla="val 79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8982075" y="3176587"/>
            <a:ext cx="2600325" cy="1438275"/>
          </a:xfrm>
          <a:prstGeom prst="roundRect">
            <a:avLst>
              <a:gd fmla="val 79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6" name="Google Shape;3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0700" y="341471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4725" y="341471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82225" y="3414712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PROGRAM EVALUATION</a:t>
            </a:r>
            <a:endParaRPr/>
          </a:p>
        </p:txBody>
      </p:sp>
      <p:sp>
        <p:nvSpPr>
          <p:cNvPr id="350" name="Google Shape;350;p2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Measuring Compliance &amp; Security Program Efficacy</a:t>
            </a:r>
            <a:endParaRPr/>
          </a:p>
        </p:txBody>
      </p:sp>
      <p:sp>
        <p:nvSpPr>
          <p:cNvPr id="351" name="Google Shape;351;p29"/>
          <p:cNvSpPr txBox="1"/>
          <p:nvPr/>
        </p:nvSpPr>
        <p:spPr>
          <a:xfrm>
            <a:off x="515838" y="3795712"/>
            <a:ext cx="278784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Reporting Velocity</a:t>
            </a:r>
            <a:endParaRPr/>
          </a:p>
        </p:txBody>
      </p:sp>
      <p:sp>
        <p:nvSpPr>
          <p:cNvPr id="352" name="Google Shape;352;p29"/>
          <p:cNvSpPr txBox="1"/>
          <p:nvPr/>
        </p:nvSpPr>
        <p:spPr>
          <a:xfrm>
            <a:off x="582215" y="4033837"/>
            <a:ext cx="26550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 elapsed between phish delivery and escalation.</a:t>
            </a:r>
            <a:endParaRPr/>
          </a:p>
        </p:txBody>
      </p:sp>
      <p:sp>
        <p:nvSpPr>
          <p:cNvPr id="353" name="Google Shape;353;p29"/>
          <p:cNvSpPr txBox="1"/>
          <p:nvPr/>
        </p:nvSpPr>
        <p:spPr>
          <a:xfrm>
            <a:off x="3306663" y="3614737"/>
            <a:ext cx="278784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Click-Through Rate</a:t>
            </a:r>
            <a:endParaRPr/>
          </a:p>
        </p:txBody>
      </p:sp>
      <p:sp>
        <p:nvSpPr>
          <p:cNvPr id="354" name="Google Shape;354;p29"/>
          <p:cNvSpPr txBox="1"/>
          <p:nvPr/>
        </p:nvSpPr>
        <p:spPr>
          <a:xfrm>
            <a:off x="3373040" y="3852862"/>
            <a:ext cx="26550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Targeting below 5% simulation failure across units.</a:t>
            </a:r>
            <a:endParaRPr/>
          </a:p>
        </p:txBody>
      </p:sp>
      <p:sp>
        <p:nvSpPr>
          <p:cNvPr id="355" name="Google Shape;355;p29"/>
          <p:cNvSpPr txBox="1"/>
          <p:nvPr/>
        </p:nvSpPr>
        <p:spPr>
          <a:xfrm>
            <a:off x="6097488" y="3795712"/>
            <a:ext cx="278784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Privilege Audit 100%</a:t>
            </a:r>
            <a:endParaRPr/>
          </a:p>
        </p:txBody>
      </p:sp>
      <p:sp>
        <p:nvSpPr>
          <p:cNvPr id="356" name="Google Shape;356;p29"/>
          <p:cNvSpPr txBox="1"/>
          <p:nvPr/>
        </p:nvSpPr>
        <p:spPr>
          <a:xfrm>
            <a:off x="6163865" y="4033837"/>
            <a:ext cx="26550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Systematic access revocation upon role changes.</a:t>
            </a:r>
            <a:endParaRPr/>
          </a:p>
        </p:txBody>
      </p:sp>
      <p:sp>
        <p:nvSpPr>
          <p:cNvPr id="357" name="Google Shape;357;p29"/>
          <p:cNvSpPr txBox="1"/>
          <p:nvPr/>
        </p:nvSpPr>
        <p:spPr>
          <a:xfrm>
            <a:off x="8888313" y="3795712"/>
            <a:ext cx="278784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Annual Risk Reviews</a:t>
            </a:r>
            <a:endParaRPr/>
          </a:p>
        </p:txBody>
      </p:sp>
      <p:sp>
        <p:nvSpPr>
          <p:cNvPr id="358" name="Google Shape;358;p29"/>
          <p:cNvSpPr txBox="1"/>
          <p:nvPr/>
        </p:nvSpPr>
        <p:spPr>
          <a:xfrm>
            <a:off x="8954690" y="4033837"/>
            <a:ext cx="26550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documentation of security control reviews.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0"/>
          <p:cNvSpPr/>
          <p:nvPr/>
        </p:nvSpPr>
        <p:spPr>
          <a:xfrm>
            <a:off x="5810250" y="4654748"/>
            <a:ext cx="571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0"/>
          <p:cNvSpPr txBox="1"/>
          <p:nvPr/>
        </p:nvSpPr>
        <p:spPr>
          <a:xfrm>
            <a:off x="5078015" y="1650652"/>
            <a:ext cx="2035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 &amp; Q&amp;A</a:t>
            </a:r>
            <a:endParaRPr/>
          </a:p>
        </p:txBody>
      </p:sp>
      <p:sp>
        <p:nvSpPr>
          <p:cNvPr id="365" name="Google Shape;365;p30"/>
          <p:cNvSpPr txBox="1"/>
          <p:nvPr/>
        </p:nvSpPr>
        <p:spPr>
          <a:xfrm>
            <a:off x="470296" y="2003077"/>
            <a:ext cx="11251406" cy="150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Proactive Governance Transforms Employees Into Resilient Cybersecurity Sensors</a:t>
            </a:r>
            <a:endParaRPr/>
          </a:p>
        </p:txBody>
      </p:sp>
      <p:sp>
        <p:nvSpPr>
          <p:cNvPr id="366" name="Google Shape;366;p30"/>
          <p:cNvSpPr txBox="1"/>
          <p:nvPr/>
        </p:nvSpPr>
        <p:spPr>
          <a:xfrm>
            <a:off x="1631156" y="3740348"/>
            <a:ext cx="89296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Combining clear compliance rules, least-privilege access, adaptive training, and non-punitive culture establishes sustainable cyber resilience.</a:t>
            </a:r>
            <a:endParaRPr/>
          </a:p>
        </p:txBody>
      </p:sp>
      <p:sp>
        <p:nvSpPr>
          <p:cNvPr id="367" name="Google Shape;367;p30"/>
          <p:cNvSpPr txBox="1"/>
          <p:nvPr/>
        </p:nvSpPr>
        <p:spPr>
          <a:xfrm>
            <a:off x="3303984" y="4988123"/>
            <a:ext cx="55840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for Your Attention. Questions &amp; Discussion.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1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1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8" name="Google Shape;37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43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1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82" name="Google Shape;382;p31"/>
          <p:cNvSpPr txBox="1"/>
          <p:nvPr/>
        </p:nvSpPr>
        <p:spPr>
          <a:xfrm>
            <a:off x="1666875" y="1038225"/>
            <a:ext cx="7858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https://www.fortinet.com/content/dam/fortinet/images/cyberglossary/6-types-of-security-audits1.png</a:t>
            </a:r>
            <a:endParaRPr/>
          </a:p>
        </p:txBody>
      </p:sp>
      <p:sp>
        <p:nvSpPr>
          <p:cNvPr id="383" name="Google Shape;383;p31"/>
          <p:cNvSpPr txBox="1"/>
          <p:nvPr/>
        </p:nvSpPr>
        <p:spPr>
          <a:xfrm>
            <a:off x="1666875" y="1238250"/>
            <a:ext cx="23931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www.fortinet.com</a:t>
            </a:r>
            <a:endParaRPr/>
          </a:p>
        </p:txBody>
      </p:sp>
      <p:sp>
        <p:nvSpPr>
          <p:cNvPr id="384" name="Google Shape;384;p31"/>
          <p:cNvSpPr txBox="1"/>
          <p:nvPr/>
        </p:nvSpPr>
        <p:spPr>
          <a:xfrm>
            <a:off x="1666875" y="1809750"/>
            <a:ext cx="8072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https://saturnpartners.com/wp-content/uploads/2024/04/cybersecurity-awareness-training-session.webp</a:t>
            </a:r>
            <a:endParaRPr/>
          </a:p>
        </p:txBody>
      </p:sp>
      <p:sp>
        <p:nvSpPr>
          <p:cNvPr id="385" name="Google Shape;385;p31"/>
          <p:cNvSpPr txBox="1"/>
          <p:nvPr/>
        </p:nvSpPr>
        <p:spPr>
          <a:xfrm>
            <a:off x="1666875" y="2009775"/>
            <a:ext cx="25122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saturnpartners.com</a:t>
            </a:r>
            <a:endParaRPr/>
          </a:p>
        </p:txBody>
      </p:sp>
      <p:sp>
        <p:nvSpPr>
          <p:cNvPr id="386" name="Google Shape;386;p31"/>
          <p:cNvSpPr txBox="1"/>
          <p:nvPr/>
        </p:nvSpPr>
        <p:spPr>
          <a:xfrm>
            <a:off x="1666875" y="2581275"/>
            <a:ext cx="372665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https://www.expatriates.com/img/64229176.1.jpg</a:t>
            </a:r>
            <a:endParaRPr/>
          </a:p>
        </p:txBody>
      </p:sp>
      <p:sp>
        <p:nvSpPr>
          <p:cNvPr id="387" name="Google Shape;387;p31"/>
          <p:cNvSpPr txBox="1"/>
          <p:nvPr/>
        </p:nvSpPr>
        <p:spPr>
          <a:xfrm>
            <a:off x="1666875" y="2781300"/>
            <a:ext cx="2750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www.expatriates.com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